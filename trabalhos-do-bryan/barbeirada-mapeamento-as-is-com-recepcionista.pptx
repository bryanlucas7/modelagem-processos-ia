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6A0E7-5ED4-4931-BAB7-29009EBD0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B1796-64ED-485B-8567-059B058F8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27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551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607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629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431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607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561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797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208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540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1796-64ED-485B-8567-059B058F8AE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930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8B3BD-2079-4259-323E-FFA859AA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17BC37-1169-0F7C-0B4D-1E924ACF7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37A892-EF4D-AACF-2663-4B19E13D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867BA-806E-FBE9-9068-50A489BD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120604-F1A2-BBC3-517B-04CA56CA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393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5B1D5-FDB8-7A8D-E7DE-5FB5B4B3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D9688C-0634-1AF2-FE75-4D3CE061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169436-F7A0-8065-F43C-8B5D3077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760D74-314D-7855-7897-704C2061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F951E6-B606-DAFF-5BC2-A7405383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45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8219A-0F91-A9DC-E740-CBC281A4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00FCDD-F547-38AF-087C-F0DA1E3D6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FA5A12-F61F-3115-5B7E-B23AF6BE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352F3D-1AC0-B4F3-55DB-9DC96514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8BA3B2-8EA8-7B10-A939-5956CB72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92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E63F-874B-BC7A-0228-B3E9E2288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63B151-3BDA-904B-531D-504C34C44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C0DEBF-4B49-627F-4561-CE9941695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90486A-3AF4-9528-A595-BC9C7FFDA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67A16F-1A92-B159-3548-CDC38594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4FB996-6387-20E8-209B-00AF8177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84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072FF-193E-8173-E309-25A9CF10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52DA22-600C-977D-006D-C89414040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45E670-AD63-FC56-8599-27E8028FF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BDCDA5C-4A15-9295-C295-FA0A7D4ED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269DEF-7F58-CE1B-57E2-CD66876DF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351AE1-D96D-9993-3157-056ACA2E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4263E4A-5949-409D-2CE1-48ACDF9F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B7B74D-AF00-C1DA-B151-93369FA28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71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E7115-29E5-8626-46C7-5E98517E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09D20FE-5E9A-D15B-EF9E-404519D34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BDAFD5-7749-013F-F309-31546DCB1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8C0D60-1BE0-2F02-03F6-56BFD393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56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111B42-640C-5C4E-C5B4-E31ED7AF7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9A9703-27FE-07B3-6E5E-4817B219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61A3B7-67AC-B16A-D944-2B622252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64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11EEC-B582-2F6C-96B3-EACF956C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7B53D2-0BF2-FFEB-B710-0C05419D9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E9F1BA-4BF2-FC77-4718-DF6B4C612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86B740-FB82-F9B6-987A-96B12649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233ED2-2F61-2603-54B1-A52922179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7E0DC7-F95D-46B4-4D0D-955AE7BF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16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9EF2D-CFCF-4A6B-AB01-D769B79D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84B7A7-0043-0162-5800-9046F997A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94E6FC-AE47-CC1F-D888-A19F354BA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E88908-9719-EF8A-078D-F573A0C4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F0B03D-A37B-986B-4E5E-932D71095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210E68-7663-3D24-DE98-6F80B482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44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AA28C-9587-E207-6C9E-B1AD53DF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73B447-5986-099E-647F-101F54549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2CFECC-F650-F88D-B91A-156F03F2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45870E-2C6C-83E8-8955-0A9E44B3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86FB7B-0F65-90CF-BE7B-10CF1328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1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44D3B5-1FAB-3A38-2D56-70C9D489E9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1892A0-A403-AC64-E914-F71BA8319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49E9E0-76D8-29B5-AF29-D1EA9C5B0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5B26B9-7077-1A10-61BE-41DEB492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21F214-B571-85AB-4A1E-761D62AA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956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327F50C-75CC-3201-5EAD-EC48DA9BE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712D3C-9952-1A3E-66E9-238479F04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36112E-5F0A-9640-1435-A9F5C5A8A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C424D-DB57-420A-A086-C08311E1A7AD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C25000-64F3-C294-F3B0-DB20F7607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C276C3-080B-E149-CC68-ECCDB8A67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E9FEE-EB33-4AE9-BCB7-D8B08E6CC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5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da apresentação">
            <a:extLst>
              <a:ext uri="{FF2B5EF4-FFF2-40B4-BE49-F238E27FC236}">
                <a16:creationId xmlns:a16="http://schemas.microsoft.com/office/drawing/2014/main" id="{482E458D-4DCC-57C1-FA25-4CC783055AAD}"/>
              </a:ext>
            </a:extLst>
          </p:cNvPr>
          <p:cNvSpPr txBox="1"/>
          <p:nvPr/>
        </p:nvSpPr>
        <p:spPr>
          <a:xfrm>
            <a:off x="393700" y="1231899"/>
            <a:ext cx="83566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5200">
                <a:solidFill>
                  <a:srgbClr val="000000"/>
                </a:solidFill>
                <a:latin typeface="Arial" panose="020B0604020202020204" pitchFamily="34" charset="0"/>
              </a:rPr>
              <a:t>Barbeirada Club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4A0315-5180-C939-4715-D4BAEC6E8B8B}"/>
              </a:ext>
            </a:extLst>
          </p:cNvPr>
          <p:cNvSpPr txBox="1"/>
          <p:nvPr/>
        </p:nvSpPr>
        <p:spPr>
          <a:xfrm>
            <a:off x="393700" y="2425699"/>
            <a:ext cx="83566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800">
                <a:solidFill>
                  <a:srgbClr val="595959"/>
                </a:solidFill>
                <a:latin typeface="Arial" panose="020B0604020202020204" pitchFamily="34" charset="0"/>
              </a:rPr>
              <a:t>Mapeamento dos processos AS-IS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6ABBB2-717E-B27C-1006-651F29430C14}"/>
              </a:ext>
            </a:extLst>
          </p:cNvPr>
          <p:cNvSpPr txBox="1"/>
          <p:nvPr/>
        </p:nvSpPr>
        <p:spPr>
          <a:xfrm>
            <a:off x="393700" y="3327399"/>
            <a:ext cx="83566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800">
                <a:solidFill>
                  <a:srgbClr val="595959"/>
                </a:solidFill>
                <a:latin typeface="Arial" panose="020B0604020202020204" pitchFamily="34" charset="0"/>
              </a:rPr>
              <a:t>Bryan e grupo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EBF599-3298-D8EA-5BBF-414D7D9FD173}"/>
              </a:ext>
            </a:extLst>
          </p:cNvPr>
          <p:cNvSpPr txBox="1"/>
          <p:nvPr/>
        </p:nvSpPr>
        <p:spPr>
          <a:xfrm>
            <a:off x="393700" y="4190999"/>
            <a:ext cx="8356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Modelagem de Processos de Negócio</a:t>
            </a:r>
          </a:p>
        </p:txBody>
      </p:sp>
    </p:spTree>
    <p:extLst>
      <p:ext uri="{BB962C8B-B14F-4D97-AF65-F5344CB8AC3E}">
        <p14:creationId xmlns:p14="http://schemas.microsoft.com/office/powerpoint/2010/main" val="120301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075E8141-1747-6B95-F944-30BD5FC77823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038663-A8A6-FD50-239C-30FE57DEE158}"/>
              </a:ext>
            </a:extLst>
          </p:cNvPr>
          <p:cNvSpPr txBox="1"/>
          <p:nvPr/>
        </p:nvSpPr>
        <p:spPr>
          <a:xfrm>
            <a:off x="393700" y="1066799"/>
            <a:ext cx="8356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Processo fim-a-fim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5330CE-7EF3-40CA-3F4F-74C6D191E508}"/>
              </a:ext>
            </a:extLst>
          </p:cNvPr>
          <p:cNvSpPr txBox="1"/>
          <p:nvPr/>
        </p:nvSpPr>
        <p:spPr>
          <a:xfrm>
            <a:off x="393700" y="1396999"/>
            <a:ext cx="83566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Aquisição de clientes: do primeiro contato ao primeiro corte e à avaliação pós-serviço.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847C2A-0E7F-FD9B-57FA-D1737091A223}"/>
              </a:ext>
            </a:extLst>
          </p:cNvPr>
          <p:cNvSpPr txBox="1"/>
          <p:nvPr/>
        </p:nvSpPr>
        <p:spPr>
          <a:xfrm>
            <a:off x="393700" y="2044699"/>
            <a:ext cx="8356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Propósito da escolha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4E9EE2-EC91-8F05-67AF-2E88953FE193}"/>
              </a:ext>
            </a:extLst>
          </p:cNvPr>
          <p:cNvSpPr txBox="1"/>
          <p:nvPr/>
        </p:nvSpPr>
        <p:spPr>
          <a:xfrm>
            <a:off x="393700" y="2374899"/>
            <a:ext cx="83566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Tornar visíveis as esperas no atendimento e as etapas em que o contato não se converte em agendamento.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BD6B141-D970-1367-16C5-A78F62870F4B}"/>
              </a:ext>
            </a:extLst>
          </p:cNvPr>
          <p:cNvSpPr txBox="1"/>
          <p:nvPr/>
        </p:nvSpPr>
        <p:spPr>
          <a:xfrm>
            <a:off x="393700" y="3022599"/>
            <a:ext cx="8356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Dono do processo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6FDDCF-DEDD-D5BA-18F5-F7E20D26975A}"/>
              </a:ext>
            </a:extLst>
          </p:cNvPr>
          <p:cNvSpPr txBox="1"/>
          <p:nvPr/>
        </p:nvSpPr>
        <p:spPr>
          <a:xfrm>
            <a:off x="393700" y="3352799"/>
            <a:ext cx="8356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Dono da Barbeirada Club.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F384CB5-2C31-E255-9D70-8247D38FBBCF}"/>
              </a:ext>
            </a:extLst>
          </p:cNvPr>
          <p:cNvSpPr txBox="1"/>
          <p:nvPr/>
        </p:nvSpPr>
        <p:spPr>
          <a:xfrm>
            <a:off x="393700" y="3721099"/>
            <a:ext cx="8356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Funções organizacionais atravessadas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9E18908-BDB5-5D67-25E2-01A13C7EF3DE}"/>
              </a:ext>
            </a:extLst>
          </p:cNvPr>
          <p:cNvSpPr txBox="1"/>
          <p:nvPr/>
        </p:nvSpPr>
        <p:spPr>
          <a:xfrm>
            <a:off x="393700" y="4051299"/>
            <a:ext cx="83566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Marketing e captação; atendimento e agendamento; recepção; prestação do serviço; acompanhamento pós-serviço.</a:t>
            </a:r>
          </a:p>
        </p:txBody>
      </p:sp>
    </p:spTree>
    <p:extLst>
      <p:ext uri="{BB962C8B-B14F-4D97-AF65-F5344CB8AC3E}">
        <p14:creationId xmlns:p14="http://schemas.microsoft.com/office/powerpoint/2010/main" val="185988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5E8EEC70-95D7-9148-6EB6-980D3E51A24E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Resumo — processos e participantes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62EE73-56A0-EE8F-1314-C076DD9B61BD}"/>
              </a:ext>
            </a:extLst>
          </p:cNvPr>
          <p:cNvSpPr txBox="1"/>
          <p:nvPr/>
        </p:nvSpPr>
        <p:spPr>
          <a:xfrm>
            <a:off x="393700" y="1054099"/>
            <a:ext cx="835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1. Captação de clientes — principal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C3C6D4-8887-32E6-4D59-6A496A4BE1DF}"/>
              </a:ext>
            </a:extLst>
          </p:cNvPr>
          <p:cNvSpPr txBox="1"/>
          <p:nvPr/>
        </p:nvSpPr>
        <p:spPr>
          <a:xfrm>
            <a:off x="393700" y="1396999"/>
            <a:ext cx="8356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Cliente/lead, gestor de tráfego e recepcionista.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67316F-FF02-2660-381B-14900C85B4EC}"/>
              </a:ext>
            </a:extLst>
          </p:cNvPr>
          <p:cNvSpPr txBox="1"/>
          <p:nvPr/>
        </p:nvSpPr>
        <p:spPr>
          <a:xfrm>
            <a:off x="393700" y="1968499"/>
            <a:ext cx="835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2. Atendimento e agendamento — principal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F75BB3-3859-6529-2E7E-BC594C206595}"/>
              </a:ext>
            </a:extLst>
          </p:cNvPr>
          <p:cNvSpPr txBox="1"/>
          <p:nvPr/>
        </p:nvSpPr>
        <p:spPr>
          <a:xfrm>
            <a:off x="393700" y="2311399"/>
            <a:ext cx="8356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Cliente/lead e recepcionista.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F90F55-49D8-AEAD-274C-1F708BA177FC}"/>
              </a:ext>
            </a:extLst>
          </p:cNvPr>
          <p:cNvSpPr txBox="1"/>
          <p:nvPr/>
        </p:nvSpPr>
        <p:spPr>
          <a:xfrm>
            <a:off x="393700" y="2882899"/>
            <a:ext cx="835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3. Recepção e execução — principal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7B9F99-6787-DFEF-B380-82637DD006F5}"/>
              </a:ext>
            </a:extLst>
          </p:cNvPr>
          <p:cNvSpPr txBox="1"/>
          <p:nvPr/>
        </p:nvSpPr>
        <p:spPr>
          <a:xfrm>
            <a:off x="393700" y="3225799"/>
            <a:ext cx="8356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Cliente, recepcionista e barbeiro profissional.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6585A20-9388-725F-384A-7E3266E278F2}"/>
              </a:ext>
            </a:extLst>
          </p:cNvPr>
          <p:cNvSpPr txBox="1"/>
          <p:nvPr/>
        </p:nvSpPr>
        <p:spPr>
          <a:xfrm>
            <a:off x="393700" y="3848099"/>
            <a:ext cx="835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Especialistas do assunto consultados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BED594-C5BA-CF65-069B-D7311AB4612D}"/>
              </a:ext>
            </a:extLst>
          </p:cNvPr>
          <p:cNvSpPr txBox="1"/>
          <p:nvPr/>
        </p:nvSpPr>
        <p:spPr>
          <a:xfrm>
            <a:off x="393700" y="4190999"/>
            <a:ext cx="8356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Dono, recepcionistas, barbeiros e gestor de tráfego.</a:t>
            </a:r>
          </a:p>
        </p:txBody>
      </p:sp>
    </p:spTree>
    <p:extLst>
      <p:ext uri="{BB962C8B-B14F-4D97-AF65-F5344CB8AC3E}">
        <p14:creationId xmlns:p14="http://schemas.microsoft.com/office/powerpoint/2010/main" val="209591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3DCB632D-901E-B479-CEE7-4F3931F3B827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Arquitetura dos processos</a:t>
            </a:r>
          </a:p>
        </p:txBody>
      </p:sp>
      <p:pic>
        <p:nvPicPr>
          <p:cNvPr id="4" name="Arquitetura existente — apresentação inicial da Barbeirada, página 8" descr="Arquitetura existente — apresentação inicial da Barbeirada, página 8">
            <a:extLst>
              <a:ext uri="{FF2B5EF4-FFF2-40B4-BE49-F238E27FC236}">
                <a16:creationId xmlns:a16="http://schemas.microsoft.com/office/drawing/2014/main" id="{B0E33167-6B89-64B6-B434-0923F2EB401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54" y="1066800"/>
            <a:ext cx="6651692" cy="33401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61F62BE-CD5C-C2E1-BAFB-A10306DA541B}"/>
              </a:ext>
            </a:extLst>
          </p:cNvPr>
          <p:cNvSpPr txBox="1"/>
          <p:nvPr/>
        </p:nvSpPr>
        <p:spPr>
          <a:xfrm>
            <a:off x="393700" y="4495800"/>
            <a:ext cx="83566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595959"/>
                </a:solidFill>
                <a:latin typeface="Arial" panose="020B0604020202020204" pitchFamily="34" charset="0"/>
              </a:rPr>
              <a:t>Os três processos mapeados estão na faixa de processos principais.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CD2C24-BD35-E49F-30C7-03356AE7B1A6}"/>
              </a:ext>
            </a:extLst>
          </p:cNvPr>
          <p:cNvSpPr txBox="1"/>
          <p:nvPr/>
        </p:nvSpPr>
        <p:spPr>
          <a:xfrm>
            <a:off x="393700" y="4775200"/>
            <a:ext cx="8356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595959"/>
                </a:solidFill>
                <a:latin typeface="Arial" panose="020B0604020202020204" pitchFamily="34" charset="0"/>
              </a:rPr>
              <a:t>No mapa inicial, o processo 3 aparece como “Execução e Pós-atendimento”.</a:t>
            </a:r>
          </a:p>
        </p:txBody>
      </p:sp>
    </p:spTree>
    <p:extLst>
      <p:ext uri="{BB962C8B-B14F-4D97-AF65-F5344CB8AC3E}">
        <p14:creationId xmlns:p14="http://schemas.microsoft.com/office/powerpoint/2010/main" val="152737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B7BDEAF0-AFD9-66EB-BC64-73A9B7B29820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Processo 1 — Captação de clientes</a:t>
            </a:r>
          </a:p>
        </p:txBody>
      </p:sp>
      <p:pic>
        <p:nvPicPr>
          <p:cNvPr id="5" name="BPMN completo — Captação de clientes" descr="BPMN completo — Captação de clientes">
            <a:extLst>
              <a:ext uri="{FF2B5EF4-FFF2-40B4-BE49-F238E27FC236}">
                <a16:creationId xmlns:a16="http://schemas.microsoft.com/office/drawing/2014/main" id="{55F3F8C8-E836-3E53-741D-AE026D1F177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42" y="978272"/>
            <a:ext cx="5854717" cy="399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06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AA2DD90E-2FEE-6AB4-4472-85C5AA010010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Processo 2 — Atendimento e agendamento</a:t>
            </a:r>
          </a:p>
        </p:txBody>
      </p:sp>
      <p:pic>
        <p:nvPicPr>
          <p:cNvPr id="5" name="BPMN completo — Atendimento e agendamento" descr="BPMN completo — Atendimento e agendamento">
            <a:extLst>
              <a:ext uri="{FF2B5EF4-FFF2-40B4-BE49-F238E27FC236}">
                <a16:creationId xmlns:a16="http://schemas.microsoft.com/office/drawing/2014/main" id="{0D05666D-86EB-2D52-1B45-F0B78739AF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1051090"/>
            <a:ext cx="8356600" cy="381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7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06A5D673-6401-C588-E579-4D589CFD2549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Processo 3 — Recepção e execução</a:t>
            </a:r>
          </a:p>
        </p:txBody>
      </p:sp>
      <p:pic>
        <p:nvPicPr>
          <p:cNvPr id="5" name="BPMN completo — Recepção e execução" descr="BPMN completo — Recepção e execução">
            <a:extLst>
              <a:ext uri="{FF2B5EF4-FFF2-40B4-BE49-F238E27FC236}">
                <a16:creationId xmlns:a16="http://schemas.microsoft.com/office/drawing/2014/main" id="{E5FD3987-6700-EBCA-B597-5825BE2496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76" y="990600"/>
            <a:ext cx="7999649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9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DCAEB357-3EA6-DCF5-4A38-6F3B2475CF5A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Processo 3 — Chegada e exceções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F411C4-B63C-2011-F336-398C84469911}"/>
              </a:ext>
            </a:extLst>
          </p:cNvPr>
          <p:cNvSpPr txBox="1"/>
          <p:nvPr/>
        </p:nvSpPr>
        <p:spPr>
          <a:xfrm>
            <a:off x="393700" y="1028699"/>
            <a:ext cx="8356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Detalhe da atuação da recepcionista</a:t>
            </a:r>
          </a:p>
        </p:txBody>
      </p:sp>
      <p:pic>
        <p:nvPicPr>
          <p:cNvPr id="5" name="Ampliação do BPMN 3 — chegada, cancelamento e falta" descr="Ampliação do BPMN 3 — chegada, cancelamento e falta">
            <a:extLst>
              <a:ext uri="{FF2B5EF4-FFF2-40B4-BE49-F238E27FC236}">
                <a16:creationId xmlns:a16="http://schemas.microsoft.com/office/drawing/2014/main" id="{E2E3107A-EB0E-C55E-E58A-6D98EB1854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58" y="1511300"/>
            <a:ext cx="833948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2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66621C83-44EF-1F9B-4C62-B4F0D9F5F71F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Processo 3 — Avaliação e prazo de 24h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CBD5AF-99EB-BDF4-40CC-74AF0C6502DE}"/>
              </a:ext>
            </a:extLst>
          </p:cNvPr>
          <p:cNvSpPr txBox="1"/>
          <p:nvPr/>
        </p:nvSpPr>
        <p:spPr>
          <a:xfrm>
            <a:off x="393700" y="1028699"/>
            <a:ext cx="8356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Detalhe do encerramento após o serviço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2DAF75-63DE-211E-A3C1-9C250CBC6217}"/>
              </a:ext>
            </a:extLst>
          </p:cNvPr>
          <p:cNvSpPr txBox="1"/>
          <p:nvPr/>
        </p:nvSpPr>
        <p:spPr>
          <a:xfrm>
            <a:off x="393700" y="4495800"/>
            <a:ext cx="8356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Após 24h sem avaliação, o acompanhamento é encerrado.</a:t>
            </a:r>
          </a:p>
        </p:txBody>
      </p:sp>
      <p:pic>
        <p:nvPicPr>
          <p:cNvPr id="7" name="Ampliação do BPMN 3 — espera por avaliação e prazo de 24 horas" descr="Ampliação do BPMN 3 — espera por avaliação e prazo de 24 horas">
            <a:extLst>
              <a:ext uri="{FF2B5EF4-FFF2-40B4-BE49-F238E27FC236}">
                <a16:creationId xmlns:a16="http://schemas.microsoft.com/office/drawing/2014/main" id="{86C60496-265A-D3A5-7A9D-D3C884C2ED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47" y="1574800"/>
            <a:ext cx="8227906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63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A16B4D4C-7126-94B6-C5CD-1A526842D702}"/>
              </a:ext>
            </a:extLst>
          </p:cNvPr>
          <p:cNvSpPr txBox="1"/>
          <p:nvPr/>
        </p:nvSpPr>
        <p:spPr>
          <a:xfrm>
            <a:off x="393700" y="393699"/>
            <a:ext cx="8356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20">
                <a:solidFill>
                  <a:srgbClr val="000000"/>
                </a:solidFill>
                <a:latin typeface="Arial" panose="020B0604020202020204" pitchFamily="34" charset="0"/>
              </a:rPr>
              <a:t>Comentários finais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427EE5-D737-6A3C-01FC-0A6A5C177063}"/>
              </a:ext>
            </a:extLst>
          </p:cNvPr>
          <p:cNvSpPr txBox="1"/>
          <p:nvPr/>
        </p:nvSpPr>
        <p:spPr>
          <a:xfrm>
            <a:off x="393700" y="1130299"/>
            <a:ext cx="2095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Lição aprendida: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F1DDBB-A8AB-B39D-E2FE-FF14CE10A100}"/>
              </a:ext>
            </a:extLst>
          </p:cNvPr>
          <p:cNvSpPr txBox="1"/>
          <p:nvPr/>
        </p:nvSpPr>
        <p:spPr>
          <a:xfrm>
            <a:off x="2692400" y="1130299"/>
            <a:ext cx="60579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Esperas precisam de caminhos claros para resposta e encerramento.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73E5CE-B8F1-A5AC-F6B4-3E0924891341}"/>
              </a:ext>
            </a:extLst>
          </p:cNvPr>
          <p:cNvSpPr txBox="1"/>
          <p:nvPr/>
        </p:nvSpPr>
        <p:spPr>
          <a:xfrm>
            <a:off x="393700" y="1854199"/>
            <a:ext cx="2095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Principais contribuições: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B48732-37C5-1709-DDDA-20A6DCBD4F0C}"/>
              </a:ext>
            </a:extLst>
          </p:cNvPr>
          <p:cNvSpPr txBox="1"/>
          <p:nvPr/>
        </p:nvSpPr>
        <p:spPr>
          <a:xfrm>
            <a:off x="2692400" y="1854199"/>
            <a:ext cx="60579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Visibilidade das responsabilidades, mensagens e registro manual da reserva.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3E3E3A-BF0C-A616-86FA-7C3BD75C697E}"/>
              </a:ext>
            </a:extLst>
          </p:cNvPr>
          <p:cNvSpPr txBox="1"/>
          <p:nvPr/>
        </p:nvSpPr>
        <p:spPr>
          <a:xfrm>
            <a:off x="393700" y="2578099"/>
            <a:ext cx="2095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Dificuldades encontradas: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799685D-447C-2BBF-4BDE-C06B74CAB5A3}"/>
              </a:ext>
            </a:extLst>
          </p:cNvPr>
          <p:cNvSpPr txBox="1"/>
          <p:nvPr/>
        </p:nvSpPr>
        <p:spPr>
          <a:xfrm>
            <a:off x="2692400" y="2578099"/>
            <a:ext cx="60579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Definir o nível de detalhe e organizar retornos e exceções com legibilidade.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5721BA8-79C8-1975-9209-97A9D63AC9A6}"/>
              </a:ext>
            </a:extLst>
          </p:cNvPr>
          <p:cNvSpPr txBox="1"/>
          <p:nvPr/>
        </p:nvSpPr>
        <p:spPr>
          <a:xfrm>
            <a:off x="393700" y="3301999"/>
            <a:ext cx="2095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Softwares utilizados: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40AA7F2-38F9-88A7-49BC-10A8309D5B06}"/>
              </a:ext>
            </a:extLst>
          </p:cNvPr>
          <p:cNvSpPr txBox="1"/>
          <p:nvPr/>
        </p:nvSpPr>
        <p:spPr>
          <a:xfrm>
            <a:off x="2692400" y="3301999"/>
            <a:ext cx="60579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Camunda Desktop Modeler, PowerPoint e apoio de IA.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795C5F6-F829-63EB-A155-16470E484D00}"/>
              </a:ext>
            </a:extLst>
          </p:cNvPr>
          <p:cNvSpPr txBox="1"/>
          <p:nvPr/>
        </p:nvSpPr>
        <p:spPr>
          <a:xfrm>
            <a:off x="393700" y="4025899"/>
            <a:ext cx="2095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595959"/>
                </a:solidFill>
                <a:latin typeface="Arial" panose="020B0604020202020204" pitchFamily="34" charset="0"/>
              </a:rPr>
              <a:t>Próximos passos: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F63CE17-0F5E-C35B-3A68-9FAC827E67ED}"/>
              </a:ext>
            </a:extLst>
          </p:cNvPr>
          <p:cNvSpPr txBox="1"/>
          <p:nvPr/>
        </p:nvSpPr>
        <p:spPr>
          <a:xfrm>
            <a:off x="2692400" y="4025899"/>
            <a:ext cx="60579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95959"/>
                </a:solidFill>
                <a:latin typeface="Arial" panose="020B0604020202020204" pitchFamily="34" charset="0"/>
              </a:rPr>
              <a:t>Validar os BPMNs com os especialistas; medir tempos e perdas; analisar e redesenhar.</a:t>
            </a:r>
          </a:p>
        </p:txBody>
      </p:sp>
    </p:spTree>
    <p:extLst>
      <p:ext uri="{BB962C8B-B14F-4D97-AF65-F5344CB8AC3E}">
        <p14:creationId xmlns:p14="http://schemas.microsoft.com/office/powerpoint/2010/main" val="3344414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320</Words>
  <Application>Microsoft Office PowerPoint</Application>
  <PresentationFormat>Apresentação na tela (16:9)</PresentationFormat>
  <Paragraphs>54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